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969" y="1000181"/>
            <a:ext cx="500063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0125" y="1944077"/>
            <a:ext cx="71437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Cryptanalysis of Side-Channel Vulnerabilities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1000125" y="3139622"/>
            <a:ext cx="7143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8892B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Timing Attack on RSA and Mitigation via Cryptographic Blinding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3670102" y="3896860"/>
            <a:ext cx="1803797" cy="30003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 Cryptography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Hypothesis &amp; Threat Model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96591"/>
            <a:ext cx="150019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275159"/>
            <a:ext cx="117336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Hypothesis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57250" y="1689497"/>
            <a:ext cx="350043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time of RSA's </a:t>
            </a: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Square-and-Multiply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correlates with private key bits.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857250" y="2289572"/>
            <a:ext cx="350043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 1: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Includes extra multiplication $\rightarrow$ </a:t>
            </a: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Slower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57250" y="2889647"/>
            <a:ext cx="350043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 0: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performs squaring $\rightarrow$ </a:t>
            </a: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57250" y="1689497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7250" y="2289572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7250" y="2889647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296591"/>
            <a:ext cx="200025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93494" y="1275159"/>
            <a:ext cx="138410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Threat Model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072063" y="1689497"/>
            <a:ext cx="350043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 to a decryption oracle (e.g., a server).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072063" y="2289572"/>
            <a:ext cx="350043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Measures precise timing of decryption operations.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072063" y="2889647"/>
            <a:ext cx="350043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Deduces private key bits via statistical analysis of timing variances.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072063" y="1689497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072063" y="2289572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72063" y="2889647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Vulnerability: Square-and-Multiply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2137767" cy="64472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1321594"/>
            <a:ext cx="73223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 = C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46609" y="1275159"/>
            <a:ext cx="14823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aseline="3000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94842" y="1321594"/>
            <a:ext cx="9715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 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71500" y="2062758"/>
            <a:ext cx="8001000" cy="13716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062758"/>
            <a:ext cx="28575" cy="137160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062758"/>
            <a:ext cx="8001000" cy="1371600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CD6F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for bit in d:</a:t>
            </a:r>
            <a:r>
              <a:rPr lang="en-US" sz="1150" dirty="0">
                <a:solidFill>
                  <a:srgbClr val="CCD6F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150" dirty="0">
                <a:solidFill>
                  <a:srgbClr val="CCD6F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x = x * x mod N </a:t>
            </a:r>
            <a:r>
              <a:rPr lang="en-US" sz="1150" dirty="0">
                <a:solidFill>
                  <a:srgbClr val="64FF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Square (Always)</a:t>
            </a:r>
            <a:r>
              <a:rPr lang="en-US" sz="1150" dirty="0">
                <a:solidFill>
                  <a:srgbClr val="CCD6F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150" dirty="0">
                <a:solidFill>
                  <a:srgbClr val="CCD6F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 bit == 1:</a:t>
            </a:r>
            <a:r>
              <a:rPr lang="en-US" sz="1150" dirty="0">
                <a:solidFill>
                  <a:srgbClr val="CCD6F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1100" b="1" dirty="0">
                <a:solidFill>
                  <a:srgbClr val="64FFD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x = x * C mod N // Multiply (Conditional)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1500" y="3720108"/>
            <a:ext cx="8001000" cy="678656"/>
          </a:xfrm>
          <a:prstGeom prst="rect">
            <a:avLst/>
          </a:prstGeom>
          <a:solidFill>
            <a:srgbClr val="FF6464">
              <a:alpha val="10000"/>
            </a:srgbClr>
          </a:solidFill>
          <a:ln w="9144">
            <a:solidFill>
              <a:srgbClr val="FF646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93799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5850" y="3862983"/>
            <a:ext cx="734377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Timing Leak:</a:t>
            </a: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 multiplications create measurable timing differences, exposing the </a:t>
            </a: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of private key bits.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Fix: RSA Blinding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32284"/>
            <a:ext cx="8001000" cy="1893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Blinding decouples the decryption timing from the actual ciphertext </a:t>
            </a:r>
            <a:r>
              <a:rPr lang="en-US" sz="11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r>
              <a:rPr lang="en-US" sz="11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introducing a random factor.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71500" y="1607344"/>
            <a:ext cx="3893344" cy="117871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6" name="Shape 3"/>
          <p:cNvSpPr/>
          <p:nvPr/>
        </p:nvSpPr>
        <p:spPr>
          <a:xfrm>
            <a:off x="750094" y="1785938"/>
            <a:ext cx="214313" cy="214313"/>
          </a:xfrm>
          <a:prstGeom prst="ellipse">
            <a:avLst/>
          </a:prstGeom>
          <a:solidFill>
            <a:srgbClr val="64FFDA"/>
          </a:solidFill>
          <a:ln/>
        </p:spPr>
      </p:sp>
      <p:sp>
        <p:nvSpPr>
          <p:cNvPr id="7" name="Text 4"/>
          <p:cNvSpPr/>
          <p:nvPr/>
        </p:nvSpPr>
        <p:spPr>
          <a:xfrm>
            <a:off x="750094" y="178593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563" y="1806476"/>
            <a:ext cx="18716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Generate Random Factor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0094" y="2107406"/>
            <a:ext cx="353615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Pick a random </a:t>
            </a:r>
            <a:r>
              <a:rPr lang="en-US" sz="115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79156" y="1607344"/>
            <a:ext cx="3893344" cy="117871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8"/>
          <p:cNvSpPr/>
          <p:nvPr/>
        </p:nvSpPr>
        <p:spPr>
          <a:xfrm>
            <a:off x="4857750" y="1785938"/>
            <a:ext cx="214313" cy="214313"/>
          </a:xfrm>
          <a:prstGeom prst="ellipse">
            <a:avLst/>
          </a:prstGeom>
          <a:solidFill>
            <a:srgbClr val="64FFDA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0" y="178593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79219" y="1806476"/>
            <a:ext cx="15144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Blind the Ciphertext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57750" y="2136567"/>
            <a:ext cx="70901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C' = (C · 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566767" y="2107406"/>
            <a:ext cx="8215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aseline="3000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48920" y="2136567"/>
            <a:ext cx="65008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) mod 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1500" y="3000375"/>
            <a:ext cx="3893344" cy="117871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8" name="Shape 15"/>
          <p:cNvSpPr/>
          <p:nvPr/>
        </p:nvSpPr>
        <p:spPr>
          <a:xfrm>
            <a:off x="750094" y="3178969"/>
            <a:ext cx="214313" cy="214313"/>
          </a:xfrm>
          <a:prstGeom prst="ellipse">
            <a:avLst/>
          </a:prstGeom>
          <a:solidFill>
            <a:srgbClr val="64FFDA"/>
          </a:solidFill>
          <a:ln/>
        </p:spPr>
      </p:sp>
      <p:sp>
        <p:nvSpPr>
          <p:cNvPr id="19" name="Text 16"/>
          <p:cNvSpPr/>
          <p:nvPr/>
        </p:nvSpPr>
        <p:spPr>
          <a:xfrm>
            <a:off x="750094" y="317896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563" y="3199507"/>
            <a:ext cx="15751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Decrypt Blinded Text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0094" y="3529599"/>
            <a:ext cx="63222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M' = (C')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382316" y="3500438"/>
            <a:ext cx="9108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aseline="3000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473398" y="3529599"/>
            <a:ext cx="59293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 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79156" y="3000375"/>
            <a:ext cx="3893344" cy="117871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Shape 22"/>
          <p:cNvSpPr/>
          <p:nvPr/>
        </p:nvSpPr>
        <p:spPr>
          <a:xfrm>
            <a:off x="4857750" y="3178969"/>
            <a:ext cx="214313" cy="214313"/>
          </a:xfrm>
          <a:prstGeom prst="ellipse">
            <a:avLst/>
          </a:prstGeom>
          <a:solidFill>
            <a:srgbClr val="64FFDA"/>
          </a:solidFill>
          <a:ln/>
        </p:spPr>
      </p:sp>
      <p:sp>
        <p:nvSpPr>
          <p:cNvPr id="26" name="Text 23"/>
          <p:cNvSpPr/>
          <p:nvPr/>
        </p:nvSpPr>
        <p:spPr>
          <a:xfrm>
            <a:off x="4857750" y="317896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79219" y="3199507"/>
            <a:ext cx="13966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Unblind the Result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529599"/>
            <a:ext cx="78045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 = (M' · r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638205" y="3500438"/>
            <a:ext cx="9822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aseline="3000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-1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736431" y="3529599"/>
            <a:ext cx="65008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) mod 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Experimental Results &amp; Performance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2998756" cy="48398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01986"/>
            <a:ext cx="2998756" cy="1428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32284"/>
            <a:ext cx="2998756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570256" y="1132284"/>
            <a:ext cx="2245844" cy="48398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Shape 5"/>
          <p:cNvSpPr/>
          <p:nvPr/>
        </p:nvSpPr>
        <p:spPr>
          <a:xfrm>
            <a:off x="3570256" y="1601986"/>
            <a:ext cx="2245844" cy="1428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9" name="Text 6"/>
          <p:cNvSpPr/>
          <p:nvPr/>
        </p:nvSpPr>
        <p:spPr>
          <a:xfrm>
            <a:off x="3570256" y="1132284"/>
            <a:ext cx="2245844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Vulnerable RSA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16101" y="1132284"/>
            <a:ext cx="2756399" cy="48398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8"/>
          <p:cNvSpPr/>
          <p:nvPr/>
        </p:nvSpPr>
        <p:spPr>
          <a:xfrm>
            <a:off x="5816101" y="1601986"/>
            <a:ext cx="2756399" cy="1428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2" name="Text 9"/>
          <p:cNvSpPr/>
          <p:nvPr/>
        </p:nvSpPr>
        <p:spPr>
          <a:xfrm>
            <a:off x="5816101" y="1132284"/>
            <a:ext cx="2756399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Fixed (Blinded) RSA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500" y="1609130"/>
            <a:ext cx="2998756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Execution Time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70256" y="1609130"/>
            <a:ext cx="2245844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17.78 ms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16101" y="1609130"/>
            <a:ext cx="2756399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22.14 ms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" y="2087761"/>
            <a:ext cx="2998756" cy="482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Variance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570256" y="2087761"/>
            <a:ext cx="2245844" cy="482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24.46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816101" y="2087761"/>
            <a:ext cx="2756399" cy="482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30.55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1500" y="2569964"/>
            <a:ext cx="2998756" cy="482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Overhead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570256" y="2569964"/>
            <a:ext cx="2245844" cy="482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816101" y="2569964"/>
            <a:ext cx="2756399" cy="482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~24.5%</a:t>
            </a:r>
            <a:endParaRPr lang="en-US" sz="11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562945"/>
            <a:ext cx="171450" cy="20002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50106" y="3562945"/>
            <a:ext cx="35790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Gain: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Blinding effectively decorrelates 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timing from the secret ciphertext.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3562945"/>
            <a:ext cx="171450" cy="2000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93481" y="3562945"/>
            <a:ext cx="35790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Impact: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Throughput and memory overhead 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negligible for modern systems.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Simulation Dashboard: Timing Attack on RSA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794742"/>
            <a:ext cx="4800600" cy="3443288"/>
          </a:xfrm>
          <a:prstGeom prst="rect">
            <a:avLst/>
          </a:prstGeom>
          <a:solidFill>
            <a:srgbClr val="112240"/>
          </a:solidFill>
          <a:ln w="9144">
            <a:solidFill>
              <a:srgbClr val="233554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268099"/>
            <a:ext cx="4657725" cy="248228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14975" y="794742"/>
            <a:ext cx="3200400" cy="937227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514975" y="794742"/>
            <a:ext cx="21431" cy="937227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1023342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00725" y="1009055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Interactive Configuration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5600700" y="1266230"/>
            <a:ext cx="30289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users to set </a:t>
            </a:r>
            <a:r>
              <a:rPr lang="en-US" sz="7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RSA key sizes</a:t>
            </a: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(e.g., 1024-bit) and adjust </a:t>
            </a: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 of iterations for statistical significance.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514975" y="1803406"/>
            <a:ext cx="3200400" cy="937227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5514975" y="1803406"/>
            <a:ext cx="21431" cy="937227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2032006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00725" y="2017719"/>
            <a:ext cx="10751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Bulk Simulation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5600700" y="2274894"/>
            <a:ext cx="30289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automated tests to compare execution times between </a:t>
            </a:r>
            <a:r>
              <a:rPr lang="en-US" sz="7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Vulnerable</a:t>
            </a: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7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(Blinded)</a:t>
            </a: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implementations live.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5514975" y="2812070"/>
            <a:ext cx="3200400" cy="937227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5514975" y="2812070"/>
            <a:ext cx="21431" cy="937227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3040670"/>
            <a:ext cx="144661" cy="1285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16798" y="3026383"/>
            <a:ext cx="8876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Hacker Mode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5600700" y="3283558"/>
            <a:ext cx="30289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bit-by-bit analysis to visualize exactly how an attacker </a:t>
            </a: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the private key from </a:t>
            </a:r>
            <a:r>
              <a:rPr lang="en-US" sz="7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spikes</a:t>
            </a: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5514975" y="3820734"/>
            <a:ext cx="3200400" cy="937227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5514975" y="3820734"/>
            <a:ext cx="21431" cy="937227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4049334"/>
            <a:ext cx="112514" cy="128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84652" y="4035047"/>
            <a:ext cx="11787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Logic Verification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5600700" y="4292222"/>
            <a:ext cx="30289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Verifies the effectiveness of </a:t>
            </a:r>
            <a:r>
              <a:rPr lang="en-US" sz="7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RSA Blinding</a:t>
            </a: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a robust </a:t>
            </a:r>
            <a:r>
              <a:rPr lang="en-US" sz="7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countermeasure against real-world timing leaks.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Analysis &amp; Limitations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8001000" cy="664369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2284"/>
            <a:ext cx="28575" cy="664369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32284"/>
            <a:ext cx="8001000" cy="66436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Recommendation:</a:t>
            </a: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true constant-time arithmetic libraries for comprehensive side-</a:t>
            </a:r>
            <a:r>
              <a:rPr lang="en-US" sz="11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protection.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03834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8681" y="2082403"/>
            <a:ext cx="19788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Blinding Strengths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1500" y="2496741"/>
            <a:ext cx="3786188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Effectively neutralizes </a:t>
            </a: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timing attacks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71500" y="2832497"/>
            <a:ext cx="3786188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leakage from </a:t>
            </a:r>
            <a:r>
              <a:rPr lang="en-US" sz="1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ciphertext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inputs.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71500" y="3168253"/>
            <a:ext cx="378618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computational overhead (~24.5%) for high security gain.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71500" y="2496741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1500" y="2832497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71500" y="3168253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2103834"/>
            <a:ext cx="200025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93494" y="2082403"/>
            <a:ext cx="17430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Remaining Risks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86313" y="2496741"/>
            <a:ext cx="378618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6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Micro-architectural: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Cache-timing (L1/L2) leaks still possible.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786313" y="3061097"/>
            <a:ext cx="3786188" cy="4572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6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Access: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Differential Power Analysis (DPA/SPA).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786313" y="3625453"/>
            <a:ext cx="3786188" cy="228600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6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Electromagnetic:</a:t>
            </a:r>
            <a:r>
              <a:rPr lang="en-US" sz="105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emission side-channels.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786313" y="2496741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786313" y="3061097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86313" y="3625453"/>
            <a:ext cx="714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438503"/>
            <a:ext cx="6429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2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354689"/>
            <a:ext cx="285750" cy="2500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1650" y="1526139"/>
            <a:ext cx="601503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Integrity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771650" y="1877969"/>
            <a:ext cx="60150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system is only as strong as its weakest link. Mathematical security does not guarantee implementation security.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3" y="2492332"/>
            <a:ext cx="228600" cy="2500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14500" y="2663782"/>
            <a:ext cx="6072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Practical Defense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714500" y="3015611"/>
            <a:ext cx="6072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Cryptographic blinding is a low-cost, highly effective countermeasure against standard remote timing attacks.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3" y="3629974"/>
            <a:ext cx="228600" cy="2500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14500" y="3801424"/>
            <a:ext cx="6072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Holistic Approach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714500" y="4153253"/>
            <a:ext cx="6072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 must account for the physical execution environment and micro-architectural leaks to ensure robust security.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1357313" y="4639028"/>
            <a:ext cx="6429375" cy="33397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 Questions?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2026-06-02T08:30:19Z</dcterms:created>
  <dcterms:modified xsi:type="dcterms:W3CDTF">2026-06-02T08:30:19Z</dcterms:modified>
</cp:coreProperties>
</file>